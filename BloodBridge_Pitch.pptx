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658368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993392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>
                <a:solidFill>
                  <a:srgbClr val="1C1917"/>
                </a:solidFill>
                <a:latin typeface="Calibri"/>
              </a:rPr>
              <a:t>BloodBridge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07792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>
                <a:solidFill>
                  <a:srgbClr val="57534E"/>
                </a:solidFill>
                <a:latin typeface="Calibri"/>
              </a:rPr>
              <a:t>AI-assisted blood donor discovery, matching and community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56432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81E1E"/>
                </a:solidFill>
                <a:latin typeface="Calibri"/>
              </a:rPr>
              <a:t>“Finding a donor should never be the emergency.”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4895" y="4224528"/>
            <a:ext cx="24871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1917"/>
                </a:solidFill>
                <a:latin typeface="Calibri"/>
              </a:rPr>
              <a:t>Working full-stack 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9807" y="4224528"/>
            <a:ext cx="24871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1917"/>
                </a:solidFill>
                <a:latin typeface="Calibri"/>
              </a:rPr>
              <a:t>63 backend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4719" y="4224528"/>
            <a:ext cx="24871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1917"/>
                </a:solidFill>
                <a:latin typeface="Calibri"/>
              </a:rPr>
              <a:t>Privacy-first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9631" y="4224528"/>
            <a:ext cx="24871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C1917"/>
                </a:solidFill>
                <a:latin typeface="Calibri"/>
              </a:rPr>
              <a:t>WhatsApp-ready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Supports preliminary donor discovery only - never medical advice, never a guarantee of donors or blood availability.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92608"/>
            <a:ext cx="11384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E1E"/>
                </a:solidFill>
                <a:latin typeface="Calibri"/>
              </a:rPr>
              <a:t>WHY BLOODBRIDGE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66928"/>
            <a:ext cx="11384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C1917"/>
                </a:solidFill>
                <a:latin typeface="Calibri"/>
              </a:rPr>
              <a:t>The problem - and 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207008"/>
            <a:ext cx="1234440" cy="41148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BloodBridge - AI-assisted blood donor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2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" y="1572768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" y="1572768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PROBLEM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50008"/>
            <a:ext cx="49834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0">
                <a:solidFill>
                  <a:srgbClr val="1C1917"/>
                </a:solidFill>
                <a:latin typeface="Calibri"/>
              </a:rPr>
              <a:t>Emergencies are manual: phone trees, WhatsApp groups and social-media scrambles to find a compatible donor in time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0">
                <a:solidFill>
                  <a:srgbClr val="1C1917"/>
                </a:solidFill>
                <a:latin typeface="Calibri"/>
              </a:rPr>
              <a:t>Requests lose structure - group, city, hospital, units and deadline live in one messy thread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0">
                <a:solidFill>
                  <a:srgbClr val="1C1917"/>
                </a:solidFill>
                <a:latin typeface="Calibri"/>
              </a:rPr>
              <a:t>Nobody tracks who was asked, who accepted, or what happened next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0">
                <a:solidFill>
                  <a:srgbClr val="1C1917"/>
                </a:solidFill>
                <a:latin typeface="Calibri"/>
              </a:rPr>
              <a:t>Donor phone numbers and addresses get forwarded around and leaked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0">
                <a:solidFill>
                  <a:srgbClr val="1C1917"/>
                </a:solidFill>
                <a:latin typeface="Calibri"/>
              </a:rPr>
              <a:t>Existing tools are ad-heavy, city-limited, or stop at a directory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572768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216" y="1572768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WHAT BLOODBRIDGE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50008"/>
            <a:ext cx="49834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Conversational intake: </a:t>
            </a:r>
            <a:r>
              <a:rPr sz="1250" b="0">
                <a:solidFill>
                  <a:srgbClr val="1C1917"/>
                </a:solidFill>
                <a:latin typeface="Calibri"/>
              </a:rPr>
              <a:t>the Bridge Assistant turns a free-text plea into a structured, confirmed request in minutes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Compatibility engine: </a:t>
            </a:r>
            <a:r>
              <a:rPr sz="1250" b="0">
                <a:solidFill>
                  <a:srgbClr val="1C1917"/>
                </a:solidFill>
                <a:latin typeface="Calibri"/>
              </a:rPr>
              <a:t>all 8 blood groups, who-can-give-whom, tested server-side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Location matching: </a:t>
            </a:r>
            <a:r>
              <a:rPr sz="1250" b="0">
                <a:solidFill>
                  <a:srgbClr val="1C1917"/>
                </a:solidFill>
                <a:latin typeface="Calibri"/>
              </a:rPr>
              <a:t>ranks nearby available donors by real haversine distance - never invented numbers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Consent-gated contact: </a:t>
            </a:r>
            <a:r>
              <a:rPr sz="1250" b="0">
                <a:solidFill>
                  <a:srgbClr val="1C1917"/>
                </a:solidFill>
                <a:latin typeface="Calibri"/>
              </a:rPr>
              <a:t>donor phones are never public; contact opens only after a donor accepts</a:t>
            </a:r>
          </a:p>
          <a:p>
            <a:pPr algn="l">
              <a:spcAft>
                <a:spcPts val="10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Community engine: </a:t>
            </a:r>
            <a:r>
              <a:rPr sz="1250" b="0">
                <a:solidFill>
                  <a:srgbClr val="1C1917"/>
                </a:solidFill>
                <a:latin typeface="Calibri"/>
              </a:rPr>
              <a:t>rewards and referrals keep donors engaged - without cash or donation-tied incentives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92608"/>
            <a:ext cx="11384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E1E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66928"/>
            <a:ext cx="11384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C1917"/>
                </a:solidFill>
                <a:latin typeface="Calibri"/>
              </a:rPr>
              <a:t>From “we need O- now” to a ranked donor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207008"/>
            <a:ext cx="1234440" cy="41148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BloodBridge - AI-assisted blood donor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3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" y="2148840"/>
            <a:ext cx="2093976" cy="1481328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Request created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7534E"/>
                </a:solidFill>
                <a:latin typeface="Calibri"/>
              </a:rPr>
              <a:t>Assistant intake: slots filled, summary confirmed</a:t>
            </a:r>
          </a:p>
        </p:txBody>
      </p:sp>
      <p:sp>
        <p:nvSpPr>
          <p:cNvPr id="8" name="Oval 7"/>
          <p:cNvSpPr/>
          <p:nvPr/>
        </p:nvSpPr>
        <p:spPr>
          <a:xfrm>
            <a:off x="283464" y="2029968"/>
            <a:ext cx="329184" cy="32918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889504"/>
            <a:ext cx="192024" cy="0"/>
          </a:xfrm>
          <a:prstGeom prst="line">
            <a:avLst/>
          </a:prstGeom>
          <a:ln w="22225">
            <a:solidFill>
              <a:srgbClr val="5753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24912" y="2148840"/>
            <a:ext cx="2093976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1917"/>
                </a:solidFill>
                <a:latin typeface="Calibri"/>
              </a:rPr>
              <a:t>Compatibility filter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7534E"/>
                </a:solidFill>
                <a:latin typeface="Calibri"/>
              </a:rPr>
              <a:t>All 8 groups - who can give to whom</a:t>
            </a:r>
          </a:p>
        </p:txBody>
      </p:sp>
      <p:sp>
        <p:nvSpPr>
          <p:cNvPr id="11" name="Oval 10"/>
          <p:cNvSpPr/>
          <p:nvPr/>
        </p:nvSpPr>
        <p:spPr>
          <a:xfrm>
            <a:off x="2606040" y="2029968"/>
            <a:ext cx="329184" cy="32918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37175" y="2889504"/>
            <a:ext cx="192025" cy="0"/>
          </a:xfrm>
          <a:prstGeom prst="line">
            <a:avLst/>
          </a:prstGeom>
          <a:ln w="22225">
            <a:solidFill>
              <a:srgbClr val="5753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47488" y="2148840"/>
            <a:ext cx="2093976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1917"/>
                </a:solidFill>
                <a:latin typeface="Calibri"/>
              </a:rPr>
              <a:t>Location ranking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7534E"/>
                </a:solidFill>
                <a:latin typeface="Calibri"/>
              </a:rPr>
              <a:t>Haversine distance + availability + recency</a:t>
            </a:r>
          </a:p>
        </p:txBody>
      </p:sp>
      <p:sp>
        <p:nvSpPr>
          <p:cNvPr id="14" name="Oval 13"/>
          <p:cNvSpPr/>
          <p:nvPr/>
        </p:nvSpPr>
        <p:spPr>
          <a:xfrm>
            <a:off x="4928616" y="2029968"/>
            <a:ext cx="329184" cy="32918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59752" y="2889504"/>
            <a:ext cx="192024" cy="0"/>
          </a:xfrm>
          <a:prstGeom prst="line">
            <a:avLst/>
          </a:prstGeom>
          <a:ln w="22225">
            <a:solidFill>
              <a:srgbClr val="5753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70064" y="2148840"/>
            <a:ext cx="2093976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1917"/>
                </a:solidFill>
                <a:latin typeface="Calibri"/>
              </a:rPr>
              <a:t>Consent-gated contact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7534E"/>
                </a:solidFill>
                <a:latin typeface="Calibri"/>
              </a:rPr>
              <a:t>Donor accepts, then contact is shared</a:t>
            </a:r>
          </a:p>
        </p:txBody>
      </p:sp>
      <p:sp>
        <p:nvSpPr>
          <p:cNvPr id="17" name="Oval 16"/>
          <p:cNvSpPr/>
          <p:nvPr/>
        </p:nvSpPr>
        <p:spPr>
          <a:xfrm>
            <a:off x="7251192" y="2029968"/>
            <a:ext cx="329184" cy="32918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82328" y="2889504"/>
            <a:ext cx="192024" cy="0"/>
          </a:xfrm>
          <a:prstGeom prst="line">
            <a:avLst/>
          </a:prstGeom>
          <a:ln w="22225">
            <a:solidFill>
              <a:srgbClr val="5753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92640" y="2148840"/>
            <a:ext cx="2093976" cy="1481328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Donation at hospital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7534E"/>
                </a:solidFill>
                <a:latin typeface="Calibri"/>
              </a:rPr>
              <a:t>Fulfillment happens offline, between humans</a:t>
            </a:r>
          </a:p>
        </p:txBody>
      </p:sp>
      <p:sp>
        <p:nvSpPr>
          <p:cNvPr id="20" name="Oval 19"/>
          <p:cNvSpPr/>
          <p:nvPr/>
        </p:nvSpPr>
        <p:spPr>
          <a:xfrm>
            <a:off x="9573767" y="2029968"/>
            <a:ext cx="329184" cy="32918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" y="4041648"/>
            <a:ext cx="11384280" cy="658368"/>
          </a:xfrm>
          <a:prstGeom prst="roundRect">
            <a:avLst/>
          </a:prstGeom>
          <a:solidFill>
            <a:srgbClr val="FBE9E9"/>
          </a:solidFill>
          <a:ln w="15875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Safety gate: </a:t>
            </a:r>
            <a:r>
              <a:rPr sz="1250" b="0">
                <a:solidFill>
                  <a:srgbClr val="1C1917"/>
                </a:solidFill>
                <a:latin typeface="Calibri"/>
              </a:rPr>
              <a:t>BloodBridge supports discovery only - it never guarantees donors, never gives medical advice, and never claims a request was fulfilled.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" y="4956048"/>
            <a:ext cx="361188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54864" bIns="54864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5803D"/>
                </a:solidFill>
                <a:latin typeface="Calibri"/>
              </a:rPr>
              <a:t>63</a:t>
            </a:r>
            <a:r>
              <a:rPr sz="1150" b="1">
                <a:solidFill>
                  <a:srgbClr val="1C1917"/>
                </a:solidFill>
                <a:latin typeface="Calibri"/>
              </a:rPr>
              <a:t>   backend pytest tests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7534E"/>
                </a:solidFill>
                <a:latin typeface="Calibri"/>
              </a:rPr>
              <a:t>compatibility, matching, referrals, assistant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8536" y="4956048"/>
            <a:ext cx="361188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54864" bIns="54864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5803D"/>
                </a:solidFill>
                <a:latin typeface="Calibri"/>
              </a:rPr>
              <a:t>10</a:t>
            </a:r>
            <a:r>
              <a:rPr sz="1150" b="1">
                <a:solidFill>
                  <a:srgbClr val="1C1917"/>
                </a:solidFill>
                <a:latin typeface="Calibri"/>
              </a:rPr>
              <a:t>   frontend vitest tests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7534E"/>
                </a:solidFill>
                <a:latin typeface="Calibri"/>
              </a:rPr>
              <a:t>forms, validation, routing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74736" y="4956048"/>
            <a:ext cx="361188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54864" bIns="54864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5803D"/>
                </a:solidFill>
                <a:latin typeface="Calibri"/>
              </a:rPr>
              <a:t>0</a:t>
            </a:r>
            <a:r>
              <a:rPr sz="1150" b="1">
                <a:solidFill>
                  <a:srgbClr val="1C1917"/>
                </a:solidFill>
                <a:latin typeface="Calibri"/>
              </a:rPr>
              <a:t>   console errors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7534E"/>
                </a:solidFill>
                <a:latin typeface="Calibri"/>
              </a:rPr>
              <a:t>in the live end-to-end browser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92608"/>
            <a:ext cx="11384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E1E"/>
                </a:solidFill>
                <a:latin typeface="Calibri"/>
              </a:rPr>
              <a:t>PRODUCT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66928"/>
            <a:ext cx="11384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C1917"/>
                </a:solidFill>
                <a:latin typeface="Calibri"/>
              </a:rPr>
              <a:t>Bridge Assistant - intake that actually completes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207008"/>
            <a:ext cx="1234440" cy="41148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BloodBridge - AI-assisted blood donor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4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17904"/>
            <a:ext cx="4892040" cy="4773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17904"/>
            <a:ext cx="4892040" cy="420624"/>
          </a:xfrm>
          <a:prstGeom prst="roundRect">
            <a:avLst>
              <a:gd name="adj" fmla="val 5000"/>
            </a:avLst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Bridge Assistant</a:t>
            </a:r>
            <a:r>
              <a:rPr sz="1000" b="0">
                <a:solidFill>
                  <a:srgbClr val="FFFFFF"/>
                </a:solidFill>
                <a:latin typeface="Calibri"/>
              </a:rPr>
              <a:t>      demo mode (deterministic)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121408"/>
            <a:ext cx="3154680" cy="420624"/>
          </a:xfrm>
          <a:prstGeom prst="roundRect">
            <a:avLst>
              <a:gd name="adj" fmla="val 28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917"/>
                </a:solidFill>
                <a:latin typeface="Calibri"/>
              </a:rPr>
              <a:t>Hello! I'm Bridge Assistant. Which blood group is needed?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2848" y="2606039"/>
            <a:ext cx="3017520" cy="420624"/>
          </a:xfrm>
          <a:prstGeom prst="roundRect">
            <a:avLst>
              <a:gd name="adj" fmla="val 28000"/>
            </a:avLst>
          </a:prstGeom>
          <a:solidFill>
            <a:srgbClr val="FBE9E9"/>
          </a:solidFill>
          <a:ln w="12700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917"/>
                </a:solidFill>
                <a:latin typeface="Calibri"/>
              </a:rPr>
              <a:t>I need O negative blood in Pune urgently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090671"/>
            <a:ext cx="3566160" cy="530352"/>
          </a:xfrm>
          <a:prstGeom prst="roundRect">
            <a:avLst>
              <a:gd name="adj" fmla="val 28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917"/>
                </a:solidFill>
                <a:latin typeface="Calibri"/>
              </a:rPr>
              <a:t>Great - blood group, city, urgency noted. Which hospital is it for?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85031"/>
            <a:ext cx="4526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… guided steps: hospital · units · deadline · name · contact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959351"/>
            <a:ext cx="3977639" cy="786384"/>
          </a:xfrm>
          <a:prstGeom prst="roundRect">
            <a:avLst>
              <a:gd name="adj" fmla="val 28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917"/>
                </a:solidFill>
                <a:latin typeface="Calibri"/>
              </a:rPr>
              <a:t>Here's your request summary:
O- · Pune · Demo Hospital · 2 units · urgent · tomorrow 9am
Shall I submit?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7368" y="4809744"/>
            <a:ext cx="1143000" cy="292608"/>
          </a:xfrm>
          <a:prstGeom prst="roundRect">
            <a:avLst>
              <a:gd name="adj" fmla="val 28000"/>
            </a:avLst>
          </a:prstGeom>
          <a:solidFill>
            <a:srgbClr val="ECFCF3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917"/>
                </a:solidFill>
                <a:latin typeface="Calibri"/>
              </a:rPr>
              <a:t>confirm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5166360"/>
            <a:ext cx="3977639" cy="512064"/>
          </a:xfrm>
          <a:prstGeom prst="roundRect">
            <a:avLst>
              <a:gd name="adj" fmla="val 28000"/>
            </a:avLst>
          </a:prstGeom>
          <a:solidFill>
            <a:srgbClr val="ECFCF3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1917"/>
                </a:solidFill>
                <a:latin typeface="Calibri"/>
              </a:rPr>
              <a:t>Done! Request BB-6D4006E5 submitted - finding compatible donors near Pune.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5815583"/>
            <a:ext cx="4562855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alibri"/>
              </a:rPr>
              <a:t>Nothing submits without explicit user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737360"/>
            <a:ext cx="59436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Slot-filling state machine: </a:t>
            </a:r>
            <a:r>
              <a:rPr sz="1250" b="0">
                <a:solidFill>
                  <a:srgbClr val="1C1917"/>
                </a:solidFill>
                <a:latin typeface="Calibri"/>
              </a:rPr>
              <a:t>10 fields with optional skips - it asks one clear question at a time and never loses progress to FAQ detours</a:t>
            </a:r>
          </a:p>
          <a:p>
            <a:pPr algn="l">
              <a:spcAft>
                <a:spcPts val="11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Understands rich messages: </a:t>
            </a:r>
            <a:r>
              <a:rPr sz="1250" b="0">
                <a:solidFill>
                  <a:srgbClr val="1C1917"/>
                </a:solidFill>
                <a:latin typeface="Calibri"/>
              </a:rPr>
              <a:t>“O negative in Pune urgently” fills blood group, city and urgency in one turn</a:t>
            </a:r>
          </a:p>
          <a:p>
            <a:pPr algn="l">
              <a:spcAft>
                <a:spcPts val="11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Explicit confirmation gate: </a:t>
            </a:r>
            <a:r>
              <a:rPr sz="1250" b="0">
                <a:solidFill>
                  <a:srgbClr val="1C1917"/>
                </a:solidFill>
                <a:latin typeface="Calibri"/>
              </a:rPr>
              <a:t>a full summary with per-field edit commands; submission only on approval</a:t>
            </a:r>
          </a:p>
          <a:p>
            <a:pPr algn="l">
              <a:spcAft>
                <a:spcPts val="11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Two modes: </a:t>
            </a:r>
            <a:r>
              <a:rPr sz="1250" b="0">
                <a:solidFill>
                  <a:srgbClr val="1C1917"/>
                </a:solidFill>
                <a:latin typeface="Calibri"/>
              </a:rPr>
              <a:t>deterministic demo parser always works; optional Gemini extraction is re-validated server-side and falls back silently</a:t>
            </a:r>
          </a:p>
          <a:p>
            <a:pPr algn="l">
              <a:spcAft>
                <a:spcPts val="110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•  </a:t>
            </a:r>
            <a:r>
              <a:rPr sz="1250" b="1">
                <a:solidFill>
                  <a:srgbClr val="1C1917"/>
                </a:solidFill>
                <a:latin typeface="Calibri"/>
              </a:rPr>
              <a:t>Channel-ready: </a:t>
            </a:r>
            <a:r>
              <a:rPr sz="1250" b="0">
                <a:solidFill>
                  <a:srgbClr val="1C1917"/>
                </a:solidFill>
                <a:latin typeface="Calibri"/>
              </a:rPr>
              <a:t>the same engine answers over WhatsApp Business Cloud API when configured - until then it is clearly labeled Demo 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92608"/>
            <a:ext cx="11384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E1E"/>
                </a:solidFill>
                <a:latin typeface="Calibri"/>
              </a:rPr>
              <a:t>COMMUNITY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66928"/>
            <a:ext cx="11384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C1917"/>
                </a:solidFill>
                <a:latin typeface="Calibri"/>
              </a:rPr>
              <a:t>Rewards and referrals that keep donors engaged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207008"/>
            <a:ext cx="1234440" cy="41148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BloodBridge - AI-assisted blood donor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5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" y="1572768"/>
            <a:ext cx="5486400" cy="4315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" y="157276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COMMUNITY REWARDS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58568"/>
            <a:ext cx="4983480" cy="3493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C81E1E"/>
                </a:solidFill>
                <a:latin typeface="Calibri"/>
              </a:rPr>
              <a:t>•  </a:t>
            </a:r>
            <a:r>
              <a:rPr sz="1200" b="1">
                <a:solidFill>
                  <a:srgbClr val="1C1917"/>
                </a:solidFill>
                <a:latin typeface="Calibri"/>
              </a:rPr>
              <a:t>Earn points: </a:t>
            </a:r>
            <a:r>
              <a:rPr sz="1200" b="0">
                <a:solidFill>
                  <a:srgbClr val="1C1917"/>
                </a:solidFill>
                <a:latin typeface="Calibri"/>
              </a:rPr>
              <a:t>for community-friendly actions: complete profile, respond to requests, invite friends, learn donation facts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C81E1E"/>
                </a:solidFill>
                <a:latin typeface="Calibri"/>
              </a:rPr>
              <a:t>•  </a:t>
            </a:r>
            <a:r>
              <a:rPr sz="1200" b="1">
                <a:solidFill>
                  <a:srgbClr val="1C1917"/>
                </a:solidFill>
                <a:latin typeface="Calibri"/>
              </a:rPr>
              <a:t>Redeem: </a:t>
            </a:r>
            <a:r>
              <a:rPr sz="1200" b="0">
                <a:solidFill>
                  <a:srgbClr val="1C1917"/>
                </a:solidFill>
                <a:latin typeface="Calibri"/>
              </a:rPr>
              <a:t>for partner offers from verified local partners - always labeled “Demo Partner” in the demo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C81E1E"/>
                </a:solidFill>
                <a:latin typeface="Calibri"/>
              </a:rPr>
              <a:t>•  </a:t>
            </a:r>
            <a:r>
              <a:rPr sz="1200" b="1">
                <a:solidFill>
                  <a:srgbClr val="1C1917"/>
                </a:solidFill>
                <a:latin typeface="Calibri"/>
              </a:rPr>
              <a:t>Transactional claims: </a:t>
            </a:r>
            <a:r>
              <a:rPr sz="1200" b="0">
                <a:solidFill>
                  <a:srgbClr val="1C1917"/>
                </a:solidFill>
                <a:latin typeface="Calibri"/>
              </a:rPr>
              <a:t>reserve → verify → redeem; every step is audited and race-safe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C81E1E"/>
                </a:solidFill>
                <a:latin typeface="Calibri"/>
              </a:rPr>
              <a:t>•  </a:t>
            </a:r>
            <a:r>
              <a:rPr sz="1200" b="1">
                <a:solidFill>
                  <a:srgbClr val="1C1917"/>
                </a:solidFill>
                <a:latin typeface="Calibri"/>
              </a:rPr>
              <a:t>Never cash: </a:t>
            </a:r>
            <a:r>
              <a:rPr sz="1200" b="0">
                <a:solidFill>
                  <a:srgbClr val="1C1917"/>
                </a:solidFill>
                <a:latin typeface="Calibri"/>
              </a:rPr>
              <a:t>no money, no gift cards, and points are never tied to donating blood - engagement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572768"/>
            <a:ext cx="5486400" cy="4315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216" y="157276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REFERRAL PROGRAM - TRACKED FUNNEL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8816" y="2194560"/>
            <a:ext cx="3291840" cy="420624"/>
          </a:xfrm>
          <a:prstGeom prst="roundRect">
            <a:avLst>
              <a:gd name="adj" fmla="val 22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0" bIns="0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C1917"/>
                </a:solidFill>
                <a:latin typeface="Calibri"/>
              </a:rPr>
              <a:t>Share link  BLOODBRIDGE-XXXXX</a:t>
            </a:r>
          </a:p>
        </p:txBody>
      </p:sp>
      <p:sp>
        <p:nvSpPr>
          <p:cNvPr id="13" name="Oval 12"/>
          <p:cNvSpPr/>
          <p:nvPr/>
        </p:nvSpPr>
        <p:spPr>
          <a:xfrm>
            <a:off x="6309359" y="2249424"/>
            <a:ext cx="310896" cy="310896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74736" y="2624327"/>
            <a:ext cx="0" cy="128017"/>
          </a:xfrm>
          <a:prstGeom prst="line">
            <a:avLst/>
          </a:prstGeom>
          <a:ln w="19050">
            <a:solidFill>
              <a:srgbClr val="C8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28816" y="2770632"/>
            <a:ext cx="3291840" cy="420624"/>
          </a:xfrm>
          <a:prstGeom prst="roundRect">
            <a:avLst>
              <a:gd name="adj" fmla="val 22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0" bIns="0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C1917"/>
                </a:solidFill>
                <a:latin typeface="Calibri"/>
              </a:rPr>
              <a:t>Friend opens &amp; registers</a:t>
            </a:r>
          </a:p>
        </p:txBody>
      </p:sp>
      <p:sp>
        <p:nvSpPr>
          <p:cNvPr id="16" name="Oval 15"/>
          <p:cNvSpPr/>
          <p:nvPr/>
        </p:nvSpPr>
        <p:spPr>
          <a:xfrm>
            <a:off x="6309359" y="2825496"/>
            <a:ext cx="310896" cy="310896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74736" y="3200399"/>
            <a:ext cx="0" cy="128016"/>
          </a:xfrm>
          <a:prstGeom prst="line">
            <a:avLst/>
          </a:prstGeom>
          <a:ln w="19050">
            <a:solidFill>
              <a:srgbClr val="C8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28816" y="3346703"/>
            <a:ext cx="3291840" cy="420624"/>
          </a:xfrm>
          <a:prstGeom prst="roundRect">
            <a:avLst>
              <a:gd name="adj" fmla="val 22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0" bIns="0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C1917"/>
                </a:solidFill>
                <a:latin typeface="Calibri"/>
              </a:rPr>
              <a:t>Profile completed</a:t>
            </a:r>
          </a:p>
        </p:txBody>
      </p:sp>
      <p:sp>
        <p:nvSpPr>
          <p:cNvPr id="19" name="Oval 18"/>
          <p:cNvSpPr/>
          <p:nvPr/>
        </p:nvSpPr>
        <p:spPr>
          <a:xfrm>
            <a:off x="6309359" y="3401568"/>
            <a:ext cx="310896" cy="310896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74736" y="3776472"/>
            <a:ext cx="0" cy="128016"/>
          </a:xfrm>
          <a:prstGeom prst="line">
            <a:avLst/>
          </a:prstGeom>
          <a:ln w="19050">
            <a:solidFill>
              <a:srgbClr val="C8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28816" y="3922776"/>
            <a:ext cx="3291840" cy="420624"/>
          </a:xfrm>
          <a:prstGeom prst="roundRect">
            <a:avLst>
              <a:gd name="adj" fmla="val 22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0" bIns="0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C1917"/>
                </a:solidFill>
                <a:latin typeface="Calibri"/>
              </a:rPr>
              <a:t>First request or donor response</a:t>
            </a:r>
          </a:p>
        </p:txBody>
      </p:sp>
      <p:sp>
        <p:nvSpPr>
          <p:cNvPr id="22" name="Oval 21"/>
          <p:cNvSpPr/>
          <p:nvPr/>
        </p:nvSpPr>
        <p:spPr>
          <a:xfrm>
            <a:off x="6309359" y="3977639"/>
            <a:ext cx="310896" cy="310896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74736" y="4352544"/>
            <a:ext cx="0" cy="128016"/>
          </a:xfrm>
          <a:prstGeom prst="line">
            <a:avLst/>
          </a:prstGeom>
          <a:ln w="19050">
            <a:solidFill>
              <a:srgbClr val="C8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28816" y="4498848"/>
            <a:ext cx="3291840" cy="420624"/>
          </a:xfrm>
          <a:prstGeom prst="roundRect">
            <a:avLst>
              <a:gd name="adj" fmla="val 22000"/>
            </a:avLst>
          </a:prstGeom>
          <a:solidFill>
            <a:srgbClr val="ECFCF3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0" bIns="0"/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C1917"/>
                </a:solidFill>
                <a:latin typeface="Calibri"/>
              </a:rPr>
              <a:t>Reward eligibility → admin-reviewed claim</a:t>
            </a:r>
          </a:p>
        </p:txBody>
      </p:sp>
      <p:sp>
        <p:nvSpPr>
          <p:cNvPr id="25" name="Oval 24"/>
          <p:cNvSpPr/>
          <p:nvPr/>
        </p:nvSpPr>
        <p:spPr>
          <a:xfrm>
            <a:off x="6309359" y="4553712"/>
            <a:ext cx="310896" cy="310896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48072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81E1E"/>
                </a:solidFill>
                <a:latin typeface="Calibri"/>
              </a:rPr>
              <a:t>Protections: </a:t>
            </a:r>
            <a:r>
              <a:rPr sz="1050" b="0">
                <a:solidFill>
                  <a:srgbClr val="57534E"/>
                </a:solidFill>
                <a:latin typeface="Calibri"/>
              </a:rPr>
              <a:t>8 tracked stages per referral · unique per-user codes · self-referral &amp; duplicate-device fraud checks · campaigns need admin approval notes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" y="6035040"/>
            <a:ext cx="1138428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B45309"/>
                </a:solidFill>
                <a:latin typeface="Calibri"/>
              </a:rPr>
              <a:t>Ethics by design: </a:t>
            </a:r>
            <a:r>
              <a:rPr sz="1150" b="0">
                <a:solidFill>
                  <a:srgbClr val="1C1917"/>
                </a:solidFill>
                <a:latin typeface="Calibri"/>
              </a:rPr>
              <a:t>no cash equivalents, nothing tied to the act of donating, and every incentive is disclosed in the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292608"/>
            <a:ext cx="11384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E1E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66928"/>
            <a:ext cx="11384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C1917"/>
                </a:solidFill>
                <a:latin typeface="Calibri"/>
              </a:rPr>
              <a:t>Architecture, quality and how to try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1207008"/>
            <a:ext cx="1234440" cy="41148"/>
          </a:xfrm>
          <a:prstGeom prst="rect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BloodBridge - AI-assisted blood donor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7534E"/>
                </a:solidFill>
                <a:latin typeface="Calibri"/>
              </a:rPr>
              <a:t>6 /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159" y="1517904"/>
            <a:ext cx="32918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1917"/>
                </a:solidFill>
                <a:latin typeface="Calibri"/>
              </a:rPr>
              <a:t>Frontend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7534E"/>
                </a:solidFill>
                <a:latin typeface="Calibri"/>
              </a:rPr>
              <a:t>React 18 · TypeScript · Vite · Tailwind
12 pages, protected routes, notification bell</a:t>
            </a:r>
          </a:p>
        </p:txBody>
      </p:sp>
      <p:sp>
        <p:nvSpPr>
          <p:cNvPr id="8" name="Oval 7"/>
          <p:cNvSpPr/>
          <p:nvPr/>
        </p:nvSpPr>
        <p:spPr>
          <a:xfrm>
            <a:off x="472287" y="1399031"/>
            <a:ext cx="329184" cy="32918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7863" y="2130552"/>
            <a:ext cx="457200" cy="0"/>
          </a:xfrm>
          <a:prstGeom prst="line">
            <a:avLst/>
          </a:prstGeom>
          <a:ln w="22225">
            <a:solidFill>
              <a:srgbClr val="5753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49927" y="1517904"/>
            <a:ext cx="32918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1917"/>
                </a:solidFill>
                <a:latin typeface="Calibri"/>
              </a:rPr>
              <a:t>API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7534E"/>
                </a:solidFill>
                <a:latin typeface="Calibri"/>
              </a:rPr>
              <a:t>FastAPI · Pydantic schemas
9 routers, role-based auth (PBKDF2 + HMAC tokens)</a:t>
            </a:r>
          </a:p>
        </p:txBody>
      </p:sp>
      <p:sp>
        <p:nvSpPr>
          <p:cNvPr id="11" name="Oval 10"/>
          <p:cNvSpPr/>
          <p:nvPr/>
        </p:nvSpPr>
        <p:spPr>
          <a:xfrm>
            <a:off x="4331055" y="1399031"/>
            <a:ext cx="329184" cy="32918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96631" y="2130552"/>
            <a:ext cx="457200" cy="0"/>
          </a:xfrm>
          <a:prstGeom prst="line">
            <a:avLst/>
          </a:prstGeom>
          <a:ln w="22225">
            <a:solidFill>
              <a:srgbClr val="5753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08695" y="1517904"/>
            <a:ext cx="32918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C1917"/>
                </a:solidFill>
                <a:latin typeface="Calibri"/>
              </a:rPr>
              <a:t>Data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7534E"/>
                </a:solidFill>
                <a:latin typeface="Calibri"/>
              </a:rPr>
              <a:t>SQLAlchemy ORM · 15 models
SQLite now, PostgreSQL-ready by config</a:t>
            </a:r>
          </a:p>
        </p:txBody>
      </p:sp>
      <p:sp>
        <p:nvSpPr>
          <p:cNvPr id="14" name="Oval 13"/>
          <p:cNvSpPr/>
          <p:nvPr/>
        </p:nvSpPr>
        <p:spPr>
          <a:xfrm>
            <a:off x="8189823" y="1399031"/>
            <a:ext cx="329184" cy="329184"/>
          </a:xfrm>
          <a:prstGeom prst="ellipse">
            <a:avLst/>
          </a:prstGeom>
          <a:solidFill>
            <a:srgbClr val="C8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7087" y="2962656"/>
            <a:ext cx="301752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575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57534E"/>
                </a:solidFill>
                <a:latin typeface="Calibri"/>
              </a:rPr>
              <a:t>Optional: Gemini extraction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57534E"/>
                </a:solidFill>
                <a:latin typeface="Calibri"/>
              </a:rPr>
              <a:t>falls back to deterministic parser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95847" y="2770632"/>
            <a:ext cx="0" cy="173736"/>
          </a:xfrm>
          <a:prstGeom prst="line">
            <a:avLst/>
          </a:prstGeom>
          <a:ln w="15875">
            <a:solidFill>
              <a:srgbClr val="5753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87087" y="3621024"/>
            <a:ext cx="301752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575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57534E"/>
                </a:solidFill>
                <a:latin typeface="Calibri"/>
              </a:rPr>
              <a:t>Optional: WhatsApp Cloud API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57534E"/>
                </a:solidFill>
                <a:latin typeface="Calibri"/>
              </a:rPr>
              <a:t>webhook verify · dedupe · demo labeling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" y="4315968"/>
            <a:ext cx="6675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07407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C1917"/>
                </a:solidFill>
                <a:latin typeface="Calibri"/>
              </a:rPr>
              <a:t>QUALITY &amp;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36592"/>
            <a:ext cx="6309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C81E1E"/>
                </a:solidFill>
                <a:latin typeface="Calibri"/>
              </a:rPr>
              <a:t>•  </a:t>
            </a:r>
            <a:r>
              <a:rPr sz="1100" b="0">
                <a:solidFill>
                  <a:srgbClr val="1C1917"/>
                </a:solidFill>
                <a:latin typeface="Calibri"/>
              </a:rPr>
              <a:t>63 backend tests + 10 frontend tests, all green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C81E1E"/>
                </a:solidFill>
                <a:latin typeface="Calibri"/>
              </a:rPr>
              <a:t>•  </a:t>
            </a:r>
            <a:r>
              <a:rPr sz="1100" b="0">
                <a:solidFill>
                  <a:srgbClr val="1C1917"/>
                </a:solidFill>
                <a:latin typeface="Calibri"/>
              </a:rPr>
              <a:t>Donor phone/address never exposed publicly; contact is consent-gated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C81E1E"/>
                </a:solidFill>
                <a:latin typeface="Calibri"/>
              </a:rPr>
              <a:t>•  </a:t>
            </a:r>
            <a:r>
              <a:rPr sz="1100" b="0">
                <a:solidFill>
                  <a:srgbClr val="1C1917"/>
                </a:solidFill>
                <a:latin typeface="Calibri"/>
              </a:rPr>
              <a:t>Compliance disclaimers on every page and every assistant reply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C81E1E"/>
                </a:solidFill>
                <a:latin typeface="Calibri"/>
              </a:rPr>
              <a:t>•  </a:t>
            </a:r>
            <a:r>
              <a:rPr sz="1100" b="0">
                <a:solidFill>
                  <a:srgbClr val="1C1917"/>
                </a:solidFill>
                <a:latin typeface="Calibri"/>
              </a:rPr>
              <a:t>Audit log for admin actions; demo data clearly seeded &amp; labeled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315968"/>
            <a:ext cx="4471416" cy="1874519"/>
          </a:xfrm>
          <a:prstGeom prst="roundRect">
            <a:avLst>
              <a:gd name="adj" fmla="val 6000"/>
            </a:avLst>
          </a:prstGeom>
          <a:solidFill>
            <a:srgbClr val="FBE9E9"/>
          </a:solidFill>
          <a:ln w="19050">
            <a:solidFill>
              <a:srgbClr val="C8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4407407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81E1E"/>
                </a:solidFill>
                <a:latin typeface="Calibri"/>
              </a:rPr>
              <a:t>TRY THE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754879"/>
            <a:ext cx="4069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1917"/>
                </a:solidFill>
                <a:latin typeface="Calibri"/>
              </a:rPr>
              <a:t>http://localhost:5173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C1917"/>
                </a:solidFill>
                <a:latin typeface="Calibri"/>
              </a:rPr>
              <a:t>Admin:  admin@bloodbridge.demo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C1917"/>
                </a:solidFill>
                <a:latin typeface="Calibri"/>
              </a:rPr>
              <a:t>Password:  demo123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7534E"/>
                </a:solidFill>
                <a:latin typeface="Calibri"/>
              </a:rPr>
              <a:t>Seeded donors, offers, campaign &amp; live request BB-6D4006E5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