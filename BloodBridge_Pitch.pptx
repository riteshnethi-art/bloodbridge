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527048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862072"/>
            <a:ext cx="103601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200" b="1">
                <a:solidFill>
                  <a:srgbClr val="1C1917"/>
                </a:solidFill>
                <a:latin typeface="Calibri"/>
              </a:rPr>
              <a:t>BloodBridge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76472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>
                <a:solidFill>
                  <a:srgbClr val="57534E"/>
                </a:solidFill>
                <a:latin typeface="Calibri"/>
              </a:rPr>
              <a:t>AI-assisted blood donor discovery, matching and community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25112"/>
            <a:ext cx="10360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81E1E"/>
                </a:solidFill>
                <a:latin typeface="Calibri"/>
              </a:rPr>
              <a:t>“Finding a donor should never be the emergency.”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87368" y="4956048"/>
            <a:ext cx="4023360" cy="402336"/>
          </a:xfrm>
          <a:prstGeom prst="roundRect">
            <a:avLst/>
          </a:prstGeom>
          <a:solidFill>
            <a:srgbClr val="ECFCF3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●  LIVE NOW  -  it works in production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Supports preliminary donor discovery only - never medical advice, never a guarantee of donors or blood availability.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292608"/>
            <a:ext cx="11384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WHY BLOODBRIDGE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11384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C1917"/>
                </a:solidFill>
                <a:latin typeface="Calibri"/>
              </a:rPr>
              <a:t>The problem - and 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207008"/>
            <a:ext cx="1234440" cy="4114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BloodBridge - AI-assisted blood donor discovery  ·  LIVE: https://bloodbridge-app.riteshnethi-art.workers.dev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2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" y="1572768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2336" y="1572768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PROBLEM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50008"/>
            <a:ext cx="49834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0">
                <a:solidFill>
                  <a:srgbClr val="1C1917"/>
                </a:solidFill>
                <a:latin typeface="Calibri"/>
              </a:rPr>
              <a:t>Emergencies are manual: phone trees, WhatsApp groups and social-media scrambles to find a compatible donor in time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0">
                <a:solidFill>
                  <a:srgbClr val="1C1917"/>
                </a:solidFill>
                <a:latin typeface="Calibri"/>
              </a:rPr>
              <a:t>Requests lose structure - group, city, hospital, units and deadline live in one messy thread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0">
                <a:solidFill>
                  <a:srgbClr val="1C1917"/>
                </a:solidFill>
                <a:latin typeface="Calibri"/>
              </a:rPr>
              <a:t>Nobody tracks who was asked, who accepted, or what happened next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0">
                <a:solidFill>
                  <a:srgbClr val="1C1917"/>
                </a:solidFill>
                <a:latin typeface="Calibri"/>
              </a:rPr>
              <a:t>Donor phone numbers and addresses get forwarded around and leaked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0">
                <a:solidFill>
                  <a:srgbClr val="1C1917"/>
                </a:solidFill>
                <a:latin typeface="Calibri"/>
              </a:rPr>
              <a:t>Existing tools are ad-heavy, city-limited, or stop at a directory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572768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572768"/>
            <a:ext cx="5486400" cy="548640"/>
          </a:xfrm>
          <a:prstGeom prst="roundRect">
            <a:avLst>
              <a:gd name="adj" fmla="val 6000"/>
            </a:avLst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WHAT BLOODBRIDGE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50008"/>
            <a:ext cx="49834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Conversational intake: </a:t>
            </a:r>
            <a:r>
              <a:rPr sz="1250" b="0">
                <a:solidFill>
                  <a:srgbClr val="1C1917"/>
                </a:solidFill>
                <a:latin typeface="Calibri"/>
              </a:rPr>
              <a:t>the Bridge Assistant turns a free-text plea into a structured, confirmed request in minutes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Compatibility engine: </a:t>
            </a:r>
            <a:r>
              <a:rPr sz="1250" b="0">
                <a:solidFill>
                  <a:srgbClr val="1C1917"/>
                </a:solidFill>
                <a:latin typeface="Calibri"/>
              </a:rPr>
              <a:t>all 8 blood groups, who-can-give-whom, tested server-side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Location matching: </a:t>
            </a:r>
            <a:r>
              <a:rPr sz="1250" b="0">
                <a:solidFill>
                  <a:srgbClr val="1C1917"/>
                </a:solidFill>
                <a:latin typeface="Calibri"/>
              </a:rPr>
              <a:t>ranks nearby available donors by real haversine distance - never invented numbers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Consent-gated contact: </a:t>
            </a:r>
            <a:r>
              <a:rPr sz="1250" b="0">
                <a:solidFill>
                  <a:srgbClr val="1C1917"/>
                </a:solidFill>
                <a:latin typeface="Calibri"/>
              </a:rPr>
              <a:t>donor phones are never public; contact opens only after a donor accepts</a:t>
            </a:r>
          </a:p>
          <a:p>
            <a:pPr algn="l">
              <a:spcAft>
                <a:spcPts val="10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Community engine: </a:t>
            </a:r>
            <a:r>
              <a:rPr sz="1250" b="0">
                <a:solidFill>
                  <a:srgbClr val="1C1917"/>
                </a:solidFill>
                <a:latin typeface="Calibri"/>
              </a:rPr>
              <a:t>rewards and referrals keep donors engaged - without cash or donation-tied incentives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292608"/>
            <a:ext cx="11384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11384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C1917"/>
                </a:solidFill>
                <a:latin typeface="Calibri"/>
              </a:rPr>
              <a:t>From “we need O- now” to a ranked donor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207008"/>
            <a:ext cx="1234440" cy="4114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BloodBridge - AI-assisted blood donor discovery  ·  LIVE: https://bloodbridge-app.riteshnethi-art.workers.dev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3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" y="2148840"/>
            <a:ext cx="2093976" cy="1481328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Request created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Assistant intake: slots filled, summary confirmed</a:t>
            </a:r>
          </a:p>
        </p:txBody>
      </p:sp>
      <p:sp>
        <p:nvSpPr>
          <p:cNvPr id="8" name="Oval 7"/>
          <p:cNvSpPr/>
          <p:nvPr/>
        </p:nvSpPr>
        <p:spPr>
          <a:xfrm>
            <a:off x="283464" y="2029968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889504"/>
            <a:ext cx="192024" cy="0"/>
          </a:xfrm>
          <a:prstGeom prst="line">
            <a:avLst/>
          </a:prstGeom>
          <a:ln w="22225">
            <a:solidFill>
              <a:srgbClr val="5753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24912" y="2148840"/>
            <a:ext cx="2093976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Compatibility filter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All 8 groups - who can give to whom</a:t>
            </a:r>
          </a:p>
        </p:txBody>
      </p:sp>
      <p:sp>
        <p:nvSpPr>
          <p:cNvPr id="11" name="Oval 10"/>
          <p:cNvSpPr/>
          <p:nvPr/>
        </p:nvSpPr>
        <p:spPr>
          <a:xfrm>
            <a:off x="2606040" y="2029968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37175" y="2889504"/>
            <a:ext cx="192025" cy="0"/>
          </a:xfrm>
          <a:prstGeom prst="line">
            <a:avLst/>
          </a:prstGeom>
          <a:ln w="22225">
            <a:solidFill>
              <a:srgbClr val="5753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47488" y="2148840"/>
            <a:ext cx="2093976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Location ranking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Haversine distance + availability + recency</a:t>
            </a:r>
          </a:p>
        </p:txBody>
      </p:sp>
      <p:sp>
        <p:nvSpPr>
          <p:cNvPr id="14" name="Oval 13"/>
          <p:cNvSpPr/>
          <p:nvPr/>
        </p:nvSpPr>
        <p:spPr>
          <a:xfrm>
            <a:off x="4928616" y="2029968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59752" y="2889504"/>
            <a:ext cx="192024" cy="0"/>
          </a:xfrm>
          <a:prstGeom prst="line">
            <a:avLst/>
          </a:prstGeom>
          <a:ln w="22225">
            <a:solidFill>
              <a:srgbClr val="5753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70064" y="2148840"/>
            <a:ext cx="2093976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Consent-gated contact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Donor accepts, then contact is shared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2029968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82328" y="2889504"/>
            <a:ext cx="192024" cy="0"/>
          </a:xfrm>
          <a:prstGeom prst="line">
            <a:avLst/>
          </a:prstGeom>
          <a:ln w="22225">
            <a:solidFill>
              <a:srgbClr val="5753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2148840"/>
            <a:ext cx="2093976" cy="1481328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Donation at hospital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Fulfillment happens offline, between humans</a:t>
            </a:r>
          </a:p>
        </p:txBody>
      </p:sp>
      <p:sp>
        <p:nvSpPr>
          <p:cNvPr id="20" name="Oval 19"/>
          <p:cNvSpPr/>
          <p:nvPr/>
        </p:nvSpPr>
        <p:spPr>
          <a:xfrm>
            <a:off x="9573767" y="2029968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" y="4041648"/>
            <a:ext cx="11384280" cy="658368"/>
          </a:xfrm>
          <a:prstGeom prst="roundRect">
            <a:avLst/>
          </a:prstGeom>
          <a:solidFill>
            <a:srgbClr val="FBE9E9"/>
          </a:solidFill>
          <a:ln w="15875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Safety gate: </a:t>
            </a:r>
            <a:r>
              <a:rPr sz="1250" b="0">
                <a:solidFill>
                  <a:srgbClr val="1C1917"/>
                </a:solidFill>
                <a:latin typeface="Calibri"/>
              </a:rPr>
              <a:t>BloodBridge supports discovery only - it never guarantees donors, never gives medical advice, and never claims a request was fulfilled.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" y="4956048"/>
            <a:ext cx="3611880" cy="11704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54864" bIns="54864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5803D"/>
                </a:solidFill>
                <a:latin typeface="Calibri"/>
              </a:rPr>
              <a:t>8</a:t>
            </a:r>
            <a:r>
              <a:rPr sz="1150" b="1">
                <a:solidFill>
                  <a:srgbClr val="1C1917"/>
                </a:solidFill>
                <a:latin typeface="Calibri"/>
              </a:rPr>
              <a:t>   blood groups covered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7534E"/>
                </a:solidFill>
                <a:latin typeface="Calibri"/>
              </a:rPr>
              <a:t>full who-can-give-whom compatibility matrix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8536" y="4956048"/>
            <a:ext cx="3611880" cy="11704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54864" bIns="54864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5803D"/>
                </a:solidFill>
                <a:latin typeface="Calibri"/>
              </a:rPr>
              <a:t>&lt;1 min</a:t>
            </a:r>
            <a:r>
              <a:rPr sz="1150" b="1">
                <a:solidFill>
                  <a:srgbClr val="1C1917"/>
                </a:solidFill>
                <a:latin typeface="Calibri"/>
              </a:rPr>
              <a:t>   from plea to ranked list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7534E"/>
                </a:solidFill>
                <a:latin typeface="Calibri"/>
              </a:rPr>
              <a:t>one free-text message in, ranked donors 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4956048"/>
            <a:ext cx="3611880" cy="11704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54864" bIns="54864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5803D"/>
                </a:solidFill>
                <a:latin typeface="Calibri"/>
              </a:rPr>
              <a:t>0</a:t>
            </a:r>
            <a:r>
              <a:rPr sz="1150" b="1">
                <a:solidFill>
                  <a:srgbClr val="1C1917"/>
                </a:solidFill>
                <a:latin typeface="Calibri"/>
              </a:rPr>
              <a:t>   donor numbers exposed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7534E"/>
                </a:solidFill>
                <a:latin typeface="Calibri"/>
              </a:rPr>
              <a:t>contact opens only after a donor accepts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292608"/>
            <a:ext cx="11384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PRODUCT SPOTLIGHT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11384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C1917"/>
                </a:solidFill>
                <a:latin typeface="Calibri"/>
              </a:rPr>
              <a:t>Bridge Assistant - intake that actually completes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207008"/>
            <a:ext cx="1234440" cy="4114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BloodBridge - AI-assisted blood donor discovery  ·  LIVE: https://bloodbridge-app.riteshnethi-art.workers.dev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4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4892040" cy="4773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17904"/>
            <a:ext cx="4892040" cy="420624"/>
          </a:xfrm>
          <a:prstGeom prst="roundRect">
            <a:avLst>
              <a:gd name="adj" fmla="val 5000"/>
            </a:avLst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Bridge Assistant</a:t>
            </a:r>
            <a:r>
              <a:rPr sz="1000" b="0">
                <a:solidFill>
                  <a:srgbClr val="FFFFFF"/>
                </a:solidFill>
                <a:latin typeface="Calibri"/>
              </a:rPr>
              <a:t>      demo mode (deterministic)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121408"/>
            <a:ext cx="3154680" cy="420624"/>
          </a:xfrm>
          <a:prstGeom prst="roundRect">
            <a:avLst>
              <a:gd name="adj" fmla="val 28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C1917"/>
                </a:solidFill>
                <a:latin typeface="Calibri"/>
              </a:rPr>
              <a:t>Hello! I'm Bridge Assistant. Which blood group is needed?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2606039"/>
            <a:ext cx="3017520" cy="420624"/>
          </a:xfrm>
          <a:prstGeom prst="roundRect">
            <a:avLst>
              <a:gd name="adj" fmla="val 28000"/>
            </a:avLst>
          </a:prstGeom>
          <a:solidFill>
            <a:srgbClr val="FBE9E9"/>
          </a:solidFill>
          <a:ln w="1270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C1917"/>
                </a:solidFill>
                <a:latin typeface="Calibri"/>
              </a:rPr>
              <a:t>I need O negative blood in Pune urgently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090671"/>
            <a:ext cx="3566160" cy="530352"/>
          </a:xfrm>
          <a:prstGeom prst="roundRect">
            <a:avLst>
              <a:gd name="adj" fmla="val 28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C1917"/>
                </a:solidFill>
                <a:latin typeface="Calibri"/>
              </a:rPr>
              <a:t>Great - blood group, city, urgency noted. Which hospital is it for?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85031"/>
            <a:ext cx="45262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… guided steps: hospital · units · deadline · name · contact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959351"/>
            <a:ext cx="3977639" cy="786384"/>
          </a:xfrm>
          <a:prstGeom prst="roundRect">
            <a:avLst>
              <a:gd name="adj" fmla="val 28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C1917"/>
                </a:solidFill>
                <a:latin typeface="Calibri"/>
              </a:rPr>
              <a:t>Here's your request summary:
O- · Pune · Demo Hospital · 2 units · urgent · tomorrow 9am
Shall I submit?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4809744"/>
            <a:ext cx="1143000" cy="292608"/>
          </a:xfrm>
          <a:prstGeom prst="roundRect">
            <a:avLst>
              <a:gd name="adj" fmla="val 28000"/>
            </a:avLst>
          </a:prstGeom>
          <a:solidFill>
            <a:srgbClr val="ECFCF3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C1917"/>
                </a:solidFill>
                <a:latin typeface="Calibri"/>
              </a:rPr>
              <a:t>confirm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5166360"/>
            <a:ext cx="3977639" cy="512064"/>
          </a:xfrm>
          <a:prstGeom prst="roundRect">
            <a:avLst>
              <a:gd name="adj" fmla="val 28000"/>
            </a:avLst>
          </a:prstGeom>
          <a:solidFill>
            <a:srgbClr val="ECFCF3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C1917"/>
                </a:solidFill>
                <a:latin typeface="Calibri"/>
              </a:rPr>
              <a:t>Done! Request BB-6D4006E5 submitted - finding compatible donors near Pune.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5815583"/>
            <a:ext cx="4562855" cy="3657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Calibri"/>
              </a:rPr>
              <a:t>Nothing submits without explicit user confirmation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737360"/>
            <a:ext cx="594360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Slot-filling state machine: </a:t>
            </a:r>
            <a:r>
              <a:rPr sz="1250" b="0">
                <a:solidFill>
                  <a:srgbClr val="1C1917"/>
                </a:solidFill>
                <a:latin typeface="Calibri"/>
              </a:rPr>
              <a:t>10 fields with optional skips - it asks one clear question at a time and never loses progress to FAQ detours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Understands rich messages: </a:t>
            </a:r>
            <a:r>
              <a:rPr sz="1250" b="0">
                <a:solidFill>
                  <a:srgbClr val="1C1917"/>
                </a:solidFill>
                <a:latin typeface="Calibri"/>
              </a:rPr>
              <a:t>“O negative in Pune urgently” fills blood group, city and urgency in one turn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Explicit confirmation gate: </a:t>
            </a:r>
            <a:r>
              <a:rPr sz="1250" b="0">
                <a:solidFill>
                  <a:srgbClr val="1C1917"/>
                </a:solidFill>
                <a:latin typeface="Calibri"/>
              </a:rPr>
              <a:t>a full summary with per-field edit commands; submission only on approval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Two modes: </a:t>
            </a:r>
            <a:r>
              <a:rPr sz="1250" b="0">
                <a:solidFill>
                  <a:srgbClr val="1C1917"/>
                </a:solidFill>
                <a:latin typeface="Calibri"/>
              </a:rPr>
              <a:t>deterministic demo parser always works; optional Gemini extraction is re-validated server-side and falls back silently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•  </a:t>
            </a:r>
            <a:r>
              <a:rPr sz="1250" b="1">
                <a:solidFill>
                  <a:srgbClr val="1C1917"/>
                </a:solidFill>
                <a:latin typeface="Calibri"/>
              </a:rPr>
              <a:t>Channel-ready: </a:t>
            </a:r>
            <a:r>
              <a:rPr sz="1250" b="0">
                <a:solidFill>
                  <a:srgbClr val="1C1917"/>
                </a:solidFill>
                <a:latin typeface="Calibri"/>
              </a:rPr>
              <a:t>the same engine answers over WhatsApp Business Cloud API when configured - until then it is clearly labeled Demo Mode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292608"/>
            <a:ext cx="11384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LIVE NOW - NOT ON LOCALHOST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11384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C1917"/>
                </a:solidFill>
                <a:latin typeface="Calibri"/>
              </a:rPr>
              <a:t>The real product, running in production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207008"/>
            <a:ext cx="1234440" cy="4114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BloodBridge - AI-assisted blood donor discovery  ·  LIVE: https://bloodbridge-app.riteshnethi-art.workers.dev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5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" y="1517904"/>
            <a:ext cx="3611880" cy="4315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ot_landing_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2768"/>
            <a:ext cx="3502152" cy="33270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0352" y="4956048"/>
            <a:ext cx="335584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C1917"/>
                </a:solidFill>
                <a:latin typeface="Calibri"/>
              </a:rPr>
              <a:t>Landing &amp; onboarding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Compatibility table, safety notice and a 4-step tour - a stranger can act in 60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517904"/>
            <a:ext cx="3611880" cy="4315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_assistant_gate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572768"/>
            <a:ext cx="3502152" cy="24515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16552" y="4097426"/>
            <a:ext cx="335584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C1917"/>
                </a:solidFill>
                <a:latin typeface="Calibri"/>
              </a:rPr>
              <a:t>Assistant confirmation gate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Full structured summary with per-field edit commands - nothing submits without explicit approval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1517904"/>
            <a:ext cx="3611880" cy="4315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ot_matches_c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572768"/>
            <a:ext cx="3502152" cy="36772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02752" y="4956048"/>
            <a:ext cx="335584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C1917"/>
                </a:solidFill>
                <a:latin typeface="Calibri"/>
              </a:rPr>
              <a:t>Ranked matches, explained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Score, distance, availability and a per-donor explanation - contact stays consent-gated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" y="5989320"/>
            <a:ext cx="11384280" cy="420624"/>
          </a:xfrm>
          <a:prstGeom prst="roundRect">
            <a:avLst/>
          </a:prstGeom>
          <a:solidFill>
            <a:srgbClr val="ECFCF3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C1917"/>
                </a:solidFill>
                <a:latin typeface="Calibri"/>
              </a:rPr>
              <a:t>Deployed on free tiers - </a:t>
            </a:r>
            <a:r>
              <a:rPr sz="1100" b="0">
                <a:solidFill>
                  <a:srgbClr val="1C1917"/>
                </a:solidFill>
                <a:latin typeface="Calibri"/>
              </a:rPr>
              <a:t>Cloudflare Pages (frontend) + Render + SQLite (backend). Live now, scan the QR on the last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292608"/>
            <a:ext cx="11384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COMMUNITY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11384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C1917"/>
                </a:solidFill>
                <a:latin typeface="Calibri"/>
              </a:rPr>
              <a:t>Rewards and referrals that keep donors engaged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207008"/>
            <a:ext cx="1234440" cy="4114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BloodBridge - AI-assisted blood donor discovery  ·  LIVE: https://bloodbridge-app.riteshnethi-art.workers.dev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6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" y="1572768"/>
            <a:ext cx="5486400" cy="4315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2336" y="157276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COMMUNITY REWARDS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8568"/>
            <a:ext cx="4983480" cy="3493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•  </a:t>
            </a:r>
            <a:r>
              <a:rPr sz="1200" b="1">
                <a:solidFill>
                  <a:srgbClr val="1C1917"/>
                </a:solidFill>
                <a:latin typeface="Calibri"/>
              </a:rPr>
              <a:t>Earn recognition: </a:t>
            </a:r>
            <a:r>
              <a:rPr sz="1200" b="0">
                <a:solidFill>
                  <a:srgbClr val="1C1917"/>
                </a:solidFill>
                <a:latin typeface="Calibri"/>
              </a:rPr>
              <a:t>badges and certificates for completing your profile, inviting friends and learning donation facts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•  </a:t>
            </a:r>
            <a:r>
              <a:rPr sz="1200" b="1">
                <a:solidFill>
                  <a:srgbClr val="1C1917"/>
                </a:solidFill>
                <a:latin typeface="Calibri"/>
              </a:rPr>
              <a:t>Redeem: </a:t>
            </a:r>
            <a:r>
              <a:rPr sz="1200" b="0">
                <a:solidFill>
                  <a:srgbClr val="1C1917"/>
                </a:solidFill>
                <a:latin typeface="Calibri"/>
              </a:rPr>
              <a:t>for partner offers from verified local partners - always labeled “Demo Partner” in the demo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•  </a:t>
            </a:r>
            <a:r>
              <a:rPr sz="1200" b="1">
                <a:solidFill>
                  <a:srgbClr val="1C1917"/>
                </a:solidFill>
                <a:latin typeface="Calibri"/>
              </a:rPr>
              <a:t>Transactional claims: </a:t>
            </a:r>
            <a:r>
              <a:rPr sz="1200" b="0">
                <a:solidFill>
                  <a:srgbClr val="1C1917"/>
                </a:solidFill>
                <a:latin typeface="Calibri"/>
              </a:rPr>
              <a:t>reserve → verify → redeem; every step is audited and race-safe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•  </a:t>
            </a:r>
            <a:r>
              <a:rPr sz="1200" b="1">
                <a:solidFill>
                  <a:srgbClr val="1C1917"/>
                </a:solidFill>
                <a:latin typeface="Calibri"/>
              </a:rPr>
              <a:t>Never cash: </a:t>
            </a:r>
            <a:r>
              <a:rPr sz="1200" b="0">
                <a:solidFill>
                  <a:srgbClr val="1C1917"/>
                </a:solidFill>
                <a:latin typeface="Calibri"/>
              </a:rPr>
              <a:t>no money, no gift cards, and nothing is ever tied to donating blood - recognition only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572768"/>
            <a:ext cx="5486400" cy="4315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57276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REFERRAL PROGRAM - TRACKED FUNNEL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28816" y="2194560"/>
            <a:ext cx="3291840" cy="420624"/>
          </a:xfrm>
          <a:prstGeom prst="roundRect">
            <a:avLst>
              <a:gd name="adj" fmla="val 22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0" bIns="0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C1917"/>
                </a:solidFill>
                <a:latin typeface="Calibri"/>
              </a:rPr>
              <a:t>Share link  BLOODBRIDGE-XXXXX</a:t>
            </a:r>
          </a:p>
        </p:txBody>
      </p:sp>
      <p:sp>
        <p:nvSpPr>
          <p:cNvPr id="13" name="Oval 12"/>
          <p:cNvSpPr/>
          <p:nvPr/>
        </p:nvSpPr>
        <p:spPr>
          <a:xfrm>
            <a:off x="6309359" y="2249424"/>
            <a:ext cx="310896" cy="310896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4736" y="2624327"/>
            <a:ext cx="0" cy="128017"/>
          </a:xfrm>
          <a:prstGeom prst="line">
            <a:avLst/>
          </a:prstGeom>
          <a:ln w="19050">
            <a:solidFill>
              <a:srgbClr val="C8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28816" y="2770632"/>
            <a:ext cx="3291840" cy="420624"/>
          </a:xfrm>
          <a:prstGeom prst="roundRect">
            <a:avLst>
              <a:gd name="adj" fmla="val 22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0" bIns="0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C1917"/>
                </a:solidFill>
                <a:latin typeface="Calibri"/>
              </a:rPr>
              <a:t>Friend opens &amp; registers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59" y="2825496"/>
            <a:ext cx="310896" cy="310896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74736" y="3200399"/>
            <a:ext cx="0" cy="128016"/>
          </a:xfrm>
          <a:prstGeom prst="line">
            <a:avLst/>
          </a:prstGeom>
          <a:ln w="19050">
            <a:solidFill>
              <a:srgbClr val="C8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28816" y="3346703"/>
            <a:ext cx="3291840" cy="420624"/>
          </a:xfrm>
          <a:prstGeom prst="roundRect">
            <a:avLst>
              <a:gd name="adj" fmla="val 22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0" bIns="0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C1917"/>
                </a:solidFill>
                <a:latin typeface="Calibri"/>
              </a:rPr>
              <a:t>Profile completed</a:t>
            </a:r>
          </a:p>
        </p:txBody>
      </p:sp>
      <p:sp>
        <p:nvSpPr>
          <p:cNvPr id="19" name="Oval 18"/>
          <p:cNvSpPr/>
          <p:nvPr/>
        </p:nvSpPr>
        <p:spPr>
          <a:xfrm>
            <a:off x="6309359" y="3401568"/>
            <a:ext cx="310896" cy="310896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74736" y="3776472"/>
            <a:ext cx="0" cy="128016"/>
          </a:xfrm>
          <a:prstGeom prst="line">
            <a:avLst/>
          </a:prstGeom>
          <a:ln w="19050">
            <a:solidFill>
              <a:srgbClr val="C8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28816" y="3922776"/>
            <a:ext cx="3291840" cy="420624"/>
          </a:xfrm>
          <a:prstGeom prst="roundRect">
            <a:avLst>
              <a:gd name="adj" fmla="val 22000"/>
            </a:avLst>
          </a:prstGeom>
          <a:solidFill>
            <a:srgbClr val="FAFAF9"/>
          </a:solidFill>
          <a:ln w="12700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0" bIns="0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C1917"/>
                </a:solidFill>
                <a:latin typeface="Calibri"/>
              </a:rPr>
              <a:t>First request or donor response</a:t>
            </a:r>
          </a:p>
        </p:txBody>
      </p:sp>
      <p:sp>
        <p:nvSpPr>
          <p:cNvPr id="22" name="Oval 21"/>
          <p:cNvSpPr/>
          <p:nvPr/>
        </p:nvSpPr>
        <p:spPr>
          <a:xfrm>
            <a:off x="6309359" y="3977639"/>
            <a:ext cx="310896" cy="310896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74736" y="4352544"/>
            <a:ext cx="0" cy="128016"/>
          </a:xfrm>
          <a:prstGeom prst="line">
            <a:avLst/>
          </a:prstGeom>
          <a:ln w="19050">
            <a:solidFill>
              <a:srgbClr val="C8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28816" y="4498848"/>
            <a:ext cx="3291840" cy="420624"/>
          </a:xfrm>
          <a:prstGeom prst="roundRect">
            <a:avLst>
              <a:gd name="adj" fmla="val 22000"/>
            </a:avLst>
          </a:prstGeom>
          <a:solidFill>
            <a:srgbClr val="ECFCF3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54864" tIns="0" bIns="0"/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C1917"/>
                </a:solidFill>
                <a:latin typeface="Calibri"/>
              </a:rPr>
              <a:t>Reward eligibility → admin-reviewed claim</a:t>
            </a:r>
          </a:p>
        </p:txBody>
      </p:sp>
      <p:sp>
        <p:nvSpPr>
          <p:cNvPr id="25" name="Oval 24"/>
          <p:cNvSpPr/>
          <p:nvPr/>
        </p:nvSpPr>
        <p:spPr>
          <a:xfrm>
            <a:off x="6309359" y="4553712"/>
            <a:ext cx="310896" cy="310896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148072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81E1E"/>
                </a:solidFill>
                <a:latin typeface="Calibri"/>
              </a:rPr>
              <a:t>Protections: </a:t>
            </a:r>
            <a:r>
              <a:rPr sz="1050" b="0">
                <a:solidFill>
                  <a:srgbClr val="57534E"/>
                </a:solidFill>
                <a:latin typeface="Calibri"/>
              </a:rPr>
              <a:t>8 tracked stages per referral · unique per-user codes · self-referral &amp; duplicate-device fraud checks · campaigns need admin approval notes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" y="6035040"/>
            <a:ext cx="11384280" cy="457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B45309"/>
                </a:solidFill>
                <a:latin typeface="Calibri"/>
              </a:rPr>
              <a:t>Ethics by design: </a:t>
            </a:r>
            <a:r>
              <a:rPr sz="1150" b="0">
                <a:solidFill>
                  <a:srgbClr val="1C1917"/>
                </a:solidFill>
                <a:latin typeface="Calibri"/>
              </a:rPr>
              <a:t>no cash equivalents, nothing tied to the act of donating, and every incentive is disclosed in the 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2336" y="292608"/>
            <a:ext cx="11384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81E1E"/>
                </a:solidFill>
                <a:latin typeface="Calibri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2336" y="566928"/>
            <a:ext cx="11384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C1917"/>
                </a:solidFill>
                <a:latin typeface="Calibri"/>
              </a:rPr>
              <a:t>Architecture, quality and how to try it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207008"/>
            <a:ext cx="1234440" cy="41148"/>
          </a:xfrm>
          <a:prstGeom prst="rect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BloodBridge - AI-assisted blood donor discovery  ·  LIVE: https://bloodbridge-app.riteshnethi-art.workers.dev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7534E"/>
                </a:solidFill>
                <a:latin typeface="Calibri"/>
              </a:rPr>
              <a:t>7 /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159" y="1627632"/>
            <a:ext cx="329184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Frontend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React 18 · TypeScript · Vite · Tailwind
12 pages, protected routes, notification bell</a:t>
            </a:r>
          </a:p>
        </p:txBody>
      </p:sp>
      <p:sp>
        <p:nvSpPr>
          <p:cNvPr id="8" name="Oval 7"/>
          <p:cNvSpPr/>
          <p:nvPr/>
        </p:nvSpPr>
        <p:spPr>
          <a:xfrm>
            <a:off x="472287" y="1508760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37863" y="2368296"/>
            <a:ext cx="457200" cy="0"/>
          </a:xfrm>
          <a:prstGeom prst="line">
            <a:avLst/>
          </a:prstGeom>
          <a:ln w="22225">
            <a:solidFill>
              <a:srgbClr val="5753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49927" y="1627632"/>
            <a:ext cx="329184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API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FastAPI · Pydantic schemas
9 routers, role-based auth (PBKDF2 + HMAC tokens)</a:t>
            </a:r>
          </a:p>
        </p:txBody>
      </p:sp>
      <p:sp>
        <p:nvSpPr>
          <p:cNvPr id="11" name="Oval 10"/>
          <p:cNvSpPr/>
          <p:nvPr/>
        </p:nvSpPr>
        <p:spPr>
          <a:xfrm>
            <a:off x="4331055" y="1508760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96631" y="2368296"/>
            <a:ext cx="457200" cy="0"/>
          </a:xfrm>
          <a:prstGeom prst="line">
            <a:avLst/>
          </a:prstGeom>
          <a:ln w="22225">
            <a:solidFill>
              <a:srgbClr val="5753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08695" y="1627632"/>
            <a:ext cx="329184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Data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SQLAlchemy ORM · 15 models
SQLite now, PostgreSQL-ready by config</a:t>
            </a:r>
          </a:p>
        </p:txBody>
      </p:sp>
      <p:sp>
        <p:nvSpPr>
          <p:cNvPr id="14" name="Oval 13"/>
          <p:cNvSpPr/>
          <p:nvPr/>
        </p:nvSpPr>
        <p:spPr>
          <a:xfrm>
            <a:off x="8189823" y="1508760"/>
            <a:ext cx="329184" cy="329184"/>
          </a:xfrm>
          <a:prstGeom prst="ellipse">
            <a:avLst/>
          </a:prstGeom>
          <a:solidFill>
            <a:srgbClr val="C8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" y="3977639"/>
            <a:ext cx="66751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87368"/>
            <a:ext cx="6217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QUALITY &amp; 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53127"/>
            <a:ext cx="6309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C81E1E"/>
                </a:solidFill>
                <a:latin typeface="Calibri"/>
              </a:rPr>
              <a:t>•  </a:t>
            </a:r>
            <a:r>
              <a:rPr sz="1100" b="0">
                <a:solidFill>
                  <a:srgbClr val="1C1917"/>
                </a:solidFill>
                <a:latin typeface="Calibri"/>
              </a:rPr>
              <a:t>73 automated tests, all green, plus a live end-to-end browser run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C81E1E"/>
                </a:solidFill>
                <a:latin typeface="Calibri"/>
              </a:rPr>
              <a:t>•  </a:t>
            </a:r>
            <a:r>
              <a:rPr sz="1100" b="0">
                <a:solidFill>
                  <a:srgbClr val="1C1917"/>
                </a:solidFill>
                <a:latin typeface="Calibri"/>
              </a:rPr>
              <a:t>Donor phone/address never exposed publicly; contact is consent-gated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C81E1E"/>
                </a:solidFill>
                <a:latin typeface="Calibri"/>
              </a:rPr>
              <a:t>•  </a:t>
            </a:r>
            <a:r>
              <a:rPr sz="1100" b="0">
                <a:solidFill>
                  <a:srgbClr val="1C1917"/>
                </a:solidFill>
                <a:latin typeface="Calibri"/>
              </a:rPr>
              <a:t>Compliance disclaimers on every page and every assistant reply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C81E1E"/>
                </a:solidFill>
                <a:latin typeface="Calibri"/>
              </a:rPr>
              <a:t>•  </a:t>
            </a:r>
            <a:r>
              <a:rPr sz="1100" b="0">
                <a:solidFill>
                  <a:srgbClr val="1C1917"/>
                </a:solidFill>
                <a:latin typeface="Calibri"/>
              </a:rPr>
              <a:t>Audit log for admin actions; demo data clearly seeded &amp; labeled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3977639"/>
            <a:ext cx="4471416" cy="210312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 w="1905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408736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C81E1E"/>
                </a:solidFill>
                <a:latin typeface="Calibri"/>
              </a:rPr>
              <a:t>SCAN - IT IS LIVE 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453127"/>
            <a:ext cx="3063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bloodbridge-app.</a:t>
            </a:r>
          </a:p>
          <a:p>
            <a:pPr algn="l">
              <a:spcAft>
                <a:spcPts val="800"/>
              </a:spcAft>
            </a:pPr>
            <a:r>
              <a:rPr sz="1250" b="1">
                <a:solidFill>
                  <a:srgbClr val="1C1917"/>
                </a:solidFill>
                <a:latin typeface="Calibri"/>
              </a:rPr>
              <a:t>riteshnethi-art.workers.dev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1C1917"/>
                </a:solidFill>
                <a:latin typeface="Calibri"/>
              </a:rPr>
              <a:t>Free tier: Cloudflare Pages + Render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7534E"/>
                </a:solidFill>
                <a:latin typeface="Calibri"/>
              </a:rPr>
              <a:t>No login needed - demo data, clearly labeled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4142231"/>
            <a:ext cx="1508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ve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4215383"/>
            <a:ext cx="1362456" cy="13624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